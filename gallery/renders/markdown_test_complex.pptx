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1500" b="1">
                <a:latin typeface="Arial"/>
              </a:rPr>
              <a:t>Summary Statistics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500" b="1">
                <a:latin typeface="Arial"/>
              </a:rPr>
              <a:t>Total Associations Plotted</a:t>
            </a:r>
            <a:r>
              <a:rPr lang="en-US" sz="1500">
                <a:latin typeface="Arial"/>
              </a:rPr>
              <a:t>: 1519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500" b="1">
                <a:latin typeface="Arial"/>
              </a:rPr>
              <a:t>Top 10 Most Significant Traits</a:t>
            </a:r>
            <a:r>
              <a:rPr lang="en-US" sz="1500">
                <a:latin typeface="Arial"/>
              </a:rPr>
              <a:t>:</a:t>
            </a:r>
          </a:p>
        </p:txBody>
      </p:sp>
      <p:graphicFrame>
        <p:nvGraphicFramePr>
          <p:cNvPr id="3" name="Table3"/>
          <p:cNvGraphicFramePr>
            <a:graphicFrameLocks noGrp="1"/>
          </p:cNvGraphicFramePr>
          <p:nvPr/>
        </p:nvGraphicFramePr>
        <p:xfrm>
          <a:off x="910336" y="2901772"/>
          <a:ext cx="11184128" cy="3200400"/>
        </p:xfrm>
        <a:graphic>
          <a:graphicData uri="http://schemas.openxmlformats.org/drawingml/2006/table">
            <a:tbl>
              <a:tblPr/>
              <a:tblGrid>
                <a:gridCol w="5592064"/>
                <a:gridCol w="5592064"/>
              </a:tblGrid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Apolipoprotein B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3 × 10</a:t>
                      </a:r>
                      <a:r>
                        <a:rPr lang="en-US" sz="1500" baseline="30000">
                          <a:latin typeface="Arial"/>
                        </a:rPr>
                        <a:t>-418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Total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4 × 10</a:t>
                      </a:r>
                      <a:r>
                        <a:rPr lang="en-US" sz="1500" baseline="30000">
                          <a:latin typeface="Arial"/>
                        </a:rPr>
                        <a:t>-392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Low-density lipoprotein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2 × 10</a:t>
                      </a:r>
                      <a:r>
                        <a:rPr lang="en-US" sz="1500" baseline="30000">
                          <a:latin typeface="Arial"/>
                        </a:rPr>
                        <a:t>-449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LDL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3 × 10</a:t>
                      </a:r>
                      <a:r>
                        <a:rPr lang="en-US" sz="1500" baseline="30000">
                          <a:latin typeface="Arial"/>
                        </a:rPr>
                        <a:t>-563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LDL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5.18 × 10</a:t>
                      </a:r>
                      <a:r>
                        <a:rPr lang="en-US" sz="1500" baseline="30000">
                          <a:latin typeface="Arial"/>
                        </a:rPr>
                        <a:t>-1390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LDL cholesterol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1.69 × 10</a:t>
                      </a:r>
                      <a:r>
                        <a:rPr lang="en-US" sz="1500" baseline="30000">
                          <a:latin typeface="Arial"/>
                        </a:rPr>
                        <a:t>-335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Total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3.01 × 10</a:t>
                      </a:r>
                      <a:r>
                        <a:rPr lang="en-US" sz="1500" baseline="30000">
                          <a:latin typeface="Arial"/>
                        </a:rPr>
                        <a:t>-1163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LDL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7.41 × 10</a:t>
                      </a:r>
                      <a:r>
                        <a:rPr lang="en-US" sz="1500" baseline="30000">
                          <a:latin typeface="Arial"/>
                        </a:rPr>
                        <a:t>-1444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LDL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2 × 10</a:t>
                      </a:r>
                      <a:r>
                        <a:rPr lang="en-US" sz="1500" baseline="30000">
                          <a:latin typeface="Arial"/>
                        </a:rPr>
                        <a:t>-421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Non-HDL cholesterol levels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500">
                          <a:latin typeface="Arial"/>
                        </a:rPr>
                        <a:t>1.28 × 10</a:t>
                      </a:r>
                      <a:r>
                        <a:rPr lang="en-US" sz="1500" baseline="30000">
                          <a:latin typeface="Arial"/>
                        </a:rPr>
                        <a:t>-925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910336" y="6197422"/>
            <a:ext cx="11184128" cy="94297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1500" b="1">
                <a:latin typeface="Arial"/>
              </a:rPr>
              <a:t>Visualization</a:t>
            </a:r>
          </a:p>
          <a:p>
            <a:pPr algn="l">
              <a:buNone/>
            </a:pPr>
            <a:r>
              <a:rPr lang="en-US" sz="1500">
                <a:latin typeface="Arial"/>
              </a:rPr>
              <a:t>PheWAS Scatter Plot</a:t>
            </a:r>
          </a:p>
          <a:p>
            <a:pPr algn="l">
              <a:buNone/>
            </a:pPr>
            <a:r>
              <a:rPr lang="en-US" sz="1500" b="1">
                <a:latin typeface="Arial"/>
              </a:rPr>
              <a:t>Citations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1500">
                <a:latin typeface="Arial"/>
              </a:rPr>
              <a:t>[1</a:t>
            </a:r>
            <a:r>
              <a:rPr lang="en-US" sz="1500">
                <a:latin typeface="Arial"/>
              </a:rPr>
              <a:t>] </a:t>
            </a:r>
            <a:r>
              <a:rPr lang="en-US" sz="1500">
                <a:latin typeface="Arial"/>
              </a:rPr>
              <a:t>https://platform.opentargets.org/variant/1_55039974_G_T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Markdown Handling Test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